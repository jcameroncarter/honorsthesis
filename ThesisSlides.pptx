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5" r:id="rId6"/>
    <p:sldId id="27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2" r:id="rId15"/>
    <p:sldId id="273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2376" autoAdjust="0"/>
  </p:normalViewPr>
  <p:slideViewPr>
    <p:cSldViewPr snapToGrid="0">
      <p:cViewPr varScale="1">
        <p:scale>
          <a:sx n="68" d="100"/>
          <a:sy n="68" d="100"/>
        </p:scale>
        <p:origin x="12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222A-6673-4617-A9D3-31C98E87CCF8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E7B98-7FE2-498B-A75B-A9925858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0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5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Seeking vengeance on my family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37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Dominant decision is whether or not to jeopardize previous gains by rolling dice potential greater gains. Columns start at letters, end at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52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of 3 unique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28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Max 3 runners, 1: 5 &amp; 9 , 2: 7 &amp; 7, 3: 6 &amp;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65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25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04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Rectified Linear Unit Activation Function – Ramp Function – x if x&gt;0, else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3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the 2 values to be almost equal , lowered discount factor at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E7B98-7FE2-498B-A75B-A992585864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46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FA67-E8EE-F82C-A1DF-F6BCCAA0E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C56AF-5EF8-6632-6D0A-E9706DD2D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BB9EF-B5CC-F04A-0048-B4EA3832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9A9E0-B1D3-23DE-1C94-0F9CD0AE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C441E-7677-E8BD-74DE-BCCA68BD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1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AFB6-73E8-478C-87EA-CFDB0A20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68A95-F26F-E776-6C71-14C86E624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3E2E8-5F45-156F-B182-874E681B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CD595-FB6D-0950-A387-F782F7B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21810-5CBF-7366-2A8E-9B02092F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4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3F17-1F54-7980-6DD6-0581E458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CDEAB-883F-C9EF-890D-DAA8C84BD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D6FE2-80C6-E6D4-9ACC-64565FF2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5DF27-0C00-7726-F3D7-2F6FE16E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FB445-5D90-D66A-325E-EE447492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3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363B-1213-C811-CBE0-0043B3C0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7B02-D588-3AFB-C022-BD43E6769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E017F-2BD0-45CF-0433-E05E9D606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2CC05-C809-C0B5-0F82-4A69C3D2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56D08-C276-A5BB-B956-33D485E1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413AF-5E74-9623-2D16-4834F9E6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7F79-E14B-1988-D6C1-5F6D8705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1ACF0-2709-2E52-0977-97D78C7C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D41CF-10D9-E230-A68E-DB2AA4266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8BB60A-6F8A-FC32-1A9D-5A52E3285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A8F57-F4EE-507D-6BC6-9097310A6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711EA-9319-44D8-31E5-23C25740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AB4F81-CC3C-348D-8EC7-D2BB1E64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AFC38-D602-AA63-FF8D-1DD22E14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50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A08F-E719-5FE7-D2EE-C3CD618F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B3D0-93CC-E804-2AE9-472A5658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B7723-B1DF-BDCE-FCD7-D92308F9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E6E05-B193-EF2F-5D07-F26EF01B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43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EFA29-32CE-801E-FA04-82A625CF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E3707-2AA3-0098-4843-4966A9BD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4001D-0A05-B186-4DF7-46D13A00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7A7D-8A7D-9624-B55E-A4F2C302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99EE0-2D53-5407-D5F9-021A88B1C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A1437-820B-C5A9-686E-FF6F8390B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C48FC-FCD5-F2D5-9E73-40FB379F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4D3E9-4F8C-E707-0D75-887CA59F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3EBF7-2394-9DED-3354-CB110C22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55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B505-153A-75F9-D6FA-A2E79E93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3C3F7-E366-61CA-ED73-AD4E6CAD1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6E6A4-0F34-27A1-9541-8D87EE963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B982-95F7-C905-7EC6-708F6E45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0ECB0-82C0-A88C-B7D7-A69C4F9B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8678D-A92C-6022-B5B3-15A5366F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48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D3E6-4446-EC0F-77BD-6BB617BD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27CA8-0D03-6A0A-E479-3D79FB45F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3AAFE-107B-EC96-ACE0-6A8A1EEE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0089F-BBCD-3CC9-5461-713C9288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0933A-4221-DC4F-9202-15979C09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45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9E76E-86AB-2B7B-A15A-73D6BE8A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A0038-1CFA-50DB-EB4D-7045E60DF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C8329-B565-A94C-F928-B8C84583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D2D85-2DE0-8A1A-2950-7F5EED30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F6936-A96D-7633-1F47-3E0FD2E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2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5012B-909B-8E29-0CE3-A9113AB4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7D441-AE9B-A46B-E893-A24CA3589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382E-8FA3-B98D-9724-BA3D760F9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12F1D-7541-4142-B741-28537D4E75D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1D833-C7AB-00E7-2573-12CC0F89D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A5D36-5489-2ECB-BEB6-B6661D353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8473A-725D-4625-BD30-76F0B68510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3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5B28-E137-7244-A48D-AAFBCB943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3" y="1446239"/>
            <a:ext cx="10422194" cy="1327202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Trying to Ruin Family Board Game Night:</a:t>
            </a:r>
            <a:br>
              <a:rPr lang="en-US" sz="4200" dirty="0">
                <a:solidFill>
                  <a:schemeClr val="bg1"/>
                </a:solidFill>
              </a:rPr>
            </a:br>
            <a:r>
              <a:rPr lang="en-US" sz="4200" dirty="0">
                <a:solidFill>
                  <a:srgbClr val="FFCC00"/>
                </a:solidFill>
              </a:rPr>
              <a:t>Using Machine Learning to Optimize Can’t Stop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9599F-46E8-1072-4F57-0295CB6C6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Cameron Carter</a:t>
            </a:r>
          </a:p>
          <a:p>
            <a:r>
              <a:rPr lang="en-US" dirty="0">
                <a:solidFill>
                  <a:schemeClr val="bg1"/>
                </a:solidFill>
              </a:rPr>
              <a:t>Murray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59769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0A1F-27FC-6401-095D-C3D8E0F1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51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Family Board Game Night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5365-6757-77F7-052D-60B3B9E33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4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	Where it all began…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BBE8D3-0ECC-1F74-AC7A-ABF4DA7E8784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62294F6-21C5-069A-06BF-6448491F7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39997"/>
            <a:ext cx="5362222" cy="4021667"/>
          </a:xfrm>
          <a:prstGeom prst="rect">
            <a:avLst/>
          </a:prstGeom>
          <a:ln>
            <a:solidFill>
              <a:srgbClr val="FFCC00"/>
            </a:solidFill>
          </a:ln>
        </p:spPr>
      </p:pic>
    </p:spTree>
    <p:extLst>
      <p:ext uri="{BB962C8B-B14F-4D97-AF65-F5344CB8AC3E}">
        <p14:creationId xmlns:p14="http://schemas.microsoft.com/office/powerpoint/2010/main" val="426231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5C57D-0459-347B-761B-CB3FB631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228C-62D0-5F6E-3B73-37FC2FEA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180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Can’t Stop: The Board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632E-A454-0DEA-6357-C8D7FC6D7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30107"/>
          </a:xfrm>
        </p:spPr>
        <p:txBody>
          <a:bodyPr>
            <a:normAutofit lnSpcReduction="10000"/>
          </a:bodyPr>
          <a:lstStyle/>
          <a:p>
            <a:endParaRPr lang="en-US" sz="3400" dirty="0">
              <a:solidFill>
                <a:srgbClr val="FFCC00"/>
              </a:solidFill>
            </a:endParaRPr>
          </a:p>
          <a:p>
            <a:r>
              <a:rPr lang="en-US" sz="3400" dirty="0">
                <a:solidFill>
                  <a:srgbClr val="FFCC00"/>
                </a:solidFill>
              </a:rPr>
              <a:t>Developed by Sid Sackson in 1980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Published by Parker Brothers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rgbClr val="FFCC00"/>
                </a:solidFill>
              </a:rPr>
              <a:t>2 - 4 players</a:t>
            </a:r>
          </a:p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rgbClr val="FFCC00"/>
                </a:solidFill>
              </a:rPr>
              <a:t>Jeopardy dice game</a:t>
            </a:r>
            <a:endParaRPr lang="en-US" sz="3600" dirty="0">
              <a:solidFill>
                <a:srgbClr val="FFCC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FDF2F-243B-6C9E-121E-106109FBF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901" y="2520439"/>
            <a:ext cx="4114286" cy="410158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A8063E-BC11-DBE0-5C7A-EFF342F764DD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94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6792B-F724-8EB4-9D17-ACAD4997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925B-C107-4897-194F-83FEB9DC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Can’t Stop: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4AC81-27B6-1745-33B0-2ED55C256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881"/>
            <a:ext cx="10515600" cy="489792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On a player's turn, they roll all 4 six-sided dice at once</a:t>
            </a:r>
          </a:p>
          <a:p>
            <a:pPr marL="0" indent="0">
              <a:buNone/>
            </a:pPr>
            <a:endParaRPr lang="en-US" sz="3200" dirty="0">
              <a:solidFill>
                <a:srgbClr val="FFCC00"/>
              </a:solidFill>
            </a:endParaRPr>
          </a:p>
          <a:p>
            <a:endParaRPr lang="en-US" sz="3200" dirty="0">
              <a:solidFill>
                <a:srgbClr val="FFCC00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Then form two pairs of numbers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263DC9-6A38-264F-E666-58D80764DB1C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4B7964C-BA97-DD73-D7D2-C1874611B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261" y="2138385"/>
            <a:ext cx="790222" cy="790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419296-88C6-D146-D722-4153EE0E9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88" y="2138385"/>
            <a:ext cx="777170" cy="777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E4728-680A-BCF1-4189-43071E5E8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663" y="2138385"/>
            <a:ext cx="777169" cy="777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BCD07E-8B0C-C39E-1FE3-BD95236979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634" y="2138384"/>
            <a:ext cx="777170" cy="777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BBB991-2147-0B7F-5618-781889FFB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019" y="4319762"/>
            <a:ext cx="790222" cy="7902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50154-4A2E-1293-7F2A-BF1425F78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819" y="4332814"/>
            <a:ext cx="777170" cy="77717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5D64F7-6DA3-14AC-74C1-E09FA39D8B86}"/>
              </a:ext>
            </a:extLst>
          </p:cNvPr>
          <p:cNvCxnSpPr>
            <a:cxnSpLocks/>
          </p:cNvCxnSpPr>
          <p:nvPr/>
        </p:nvCxnSpPr>
        <p:spPr>
          <a:xfrm flipV="1">
            <a:off x="2931104" y="4306710"/>
            <a:ext cx="307888" cy="790222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FC421D4-6A13-E245-DDEA-B58F3EB89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07" y="4319763"/>
            <a:ext cx="777169" cy="7771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2ACC28-0E87-B677-0696-5577EF8D58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54" y="4319762"/>
            <a:ext cx="777170" cy="77717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9D5694-D673-59B3-5BA8-F4623FB2CC3C}"/>
              </a:ext>
            </a:extLst>
          </p:cNvPr>
          <p:cNvSpPr/>
          <p:nvPr/>
        </p:nvSpPr>
        <p:spPr>
          <a:xfrm>
            <a:off x="1140178" y="4196466"/>
            <a:ext cx="3973689" cy="1049867"/>
          </a:xfrm>
          <a:prstGeom prst="round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137D66-E7AE-9D20-FDF7-BA8C859D78DE}"/>
              </a:ext>
            </a:extLst>
          </p:cNvPr>
          <p:cNvSpPr/>
          <p:nvPr/>
        </p:nvSpPr>
        <p:spPr>
          <a:xfrm>
            <a:off x="7078135" y="4176887"/>
            <a:ext cx="3973689" cy="1049867"/>
          </a:xfrm>
          <a:prstGeom prst="round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59DDC9-62D4-3734-C079-A3B9AE06D47E}"/>
              </a:ext>
            </a:extLst>
          </p:cNvPr>
          <p:cNvSpPr/>
          <p:nvPr/>
        </p:nvSpPr>
        <p:spPr>
          <a:xfrm>
            <a:off x="3974789" y="5637361"/>
            <a:ext cx="3973689" cy="1049867"/>
          </a:xfrm>
          <a:prstGeom prst="round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2BBC20-2171-7378-6C0B-38A48DA33922}"/>
              </a:ext>
            </a:extLst>
          </p:cNvPr>
          <p:cNvCxnSpPr>
            <a:cxnSpLocks/>
          </p:cNvCxnSpPr>
          <p:nvPr/>
        </p:nvCxnSpPr>
        <p:spPr>
          <a:xfrm flipV="1">
            <a:off x="5807689" y="5755896"/>
            <a:ext cx="307888" cy="790222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BE5C89-57FC-78A1-666E-F7D59D913560}"/>
              </a:ext>
            </a:extLst>
          </p:cNvPr>
          <p:cNvCxnSpPr>
            <a:cxnSpLocks/>
          </p:cNvCxnSpPr>
          <p:nvPr/>
        </p:nvCxnSpPr>
        <p:spPr>
          <a:xfrm flipV="1">
            <a:off x="8953008" y="4313236"/>
            <a:ext cx="307888" cy="790222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5E164D1C-1784-F090-CEDF-8459BE413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350" y="4306709"/>
            <a:ext cx="790222" cy="7902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02106C-C270-BEAF-48D4-F791BA9ACA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705" y="4306709"/>
            <a:ext cx="777169" cy="7771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3EC5D3-45AE-96E8-7651-0FDB53303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718" y="4313235"/>
            <a:ext cx="777170" cy="7771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6A8C22-6628-6E4A-AAD5-52FA853AD3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5573" y="4306708"/>
            <a:ext cx="777170" cy="7771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5A6EBD4-720D-3E46-C328-8B204E935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54" y="5754456"/>
            <a:ext cx="790222" cy="7902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D07D2F-24AA-751E-46BD-6A6A8EEF73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797" y="5754456"/>
            <a:ext cx="777170" cy="77717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799B589-6800-B822-4C3C-C41880D1C2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152" y="5754456"/>
            <a:ext cx="777170" cy="7771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AC69774-8377-9700-EE5F-E5F39631BF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083" y="5754457"/>
            <a:ext cx="777169" cy="77716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175BEA7-2E47-0831-705B-CE57EDDCD1EA}"/>
              </a:ext>
            </a:extLst>
          </p:cNvPr>
          <p:cNvSpPr txBox="1"/>
          <p:nvPr/>
        </p:nvSpPr>
        <p:spPr>
          <a:xfrm>
            <a:off x="1979635" y="3721748"/>
            <a:ext cx="22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Option 1: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BE5D36-ED15-972F-05BC-8AA7C911FAA6}"/>
              </a:ext>
            </a:extLst>
          </p:cNvPr>
          <p:cNvSpPr txBox="1"/>
          <p:nvPr/>
        </p:nvSpPr>
        <p:spPr>
          <a:xfrm>
            <a:off x="7948478" y="3740751"/>
            <a:ext cx="22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Option 3: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3002D4-3CB9-B8F0-3D08-A1104FCABDDA}"/>
              </a:ext>
            </a:extLst>
          </p:cNvPr>
          <p:cNvSpPr txBox="1"/>
          <p:nvPr/>
        </p:nvSpPr>
        <p:spPr>
          <a:xfrm>
            <a:off x="4791522" y="5177984"/>
            <a:ext cx="22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Option 2:</a:t>
            </a:r>
          </a:p>
        </p:txBody>
      </p:sp>
    </p:spTree>
    <p:extLst>
      <p:ext uri="{BB962C8B-B14F-4D97-AF65-F5344CB8AC3E}">
        <p14:creationId xmlns:p14="http://schemas.microsoft.com/office/powerpoint/2010/main" val="3581856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33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A8EB3-AF0D-8341-6C48-00440181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BB67-9EBF-2957-A747-2854273F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Can’t Stop: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6727-7870-B051-F46E-73FED0F26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881"/>
            <a:ext cx="10515600" cy="1196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The sums of these pairs are the column(s) the player must introduce a new runner or </a:t>
            </a:r>
            <a:r>
              <a:rPr lang="en-US" sz="3200">
                <a:solidFill>
                  <a:schemeClr val="bg1"/>
                </a:solidFill>
              </a:rPr>
              <a:t>move a </a:t>
            </a:r>
            <a:r>
              <a:rPr lang="en-US" sz="3200" dirty="0">
                <a:solidFill>
                  <a:schemeClr val="bg1"/>
                </a:solidFill>
              </a:rPr>
              <a:t>runner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D755F6-D9DF-B034-35F7-F03DB7C9322F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2B1518C-18D4-D007-5849-A2F48945F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41" y="3027362"/>
            <a:ext cx="790222" cy="790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C2112-1EAD-2605-8BCC-503E9C2D8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841" y="3040414"/>
            <a:ext cx="777170" cy="77717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28BF49-2D0E-8BB6-E92B-822F3EDFE350}"/>
              </a:ext>
            </a:extLst>
          </p:cNvPr>
          <p:cNvCxnSpPr>
            <a:cxnSpLocks/>
          </p:cNvCxnSpPr>
          <p:nvPr/>
        </p:nvCxnSpPr>
        <p:spPr>
          <a:xfrm flipV="1">
            <a:off x="2629126" y="3014310"/>
            <a:ext cx="307888" cy="790222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03010A8-F33B-600F-AB0D-96ACD65459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129" y="3027363"/>
            <a:ext cx="777169" cy="7771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C19855-B445-FE82-836E-53F5986721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876" y="3027362"/>
            <a:ext cx="777170" cy="77717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3DE63A-5EEA-2FCD-0F8E-2D8A978097EC}"/>
              </a:ext>
            </a:extLst>
          </p:cNvPr>
          <p:cNvSpPr/>
          <p:nvPr/>
        </p:nvSpPr>
        <p:spPr>
          <a:xfrm>
            <a:off x="838200" y="2904066"/>
            <a:ext cx="3973689" cy="1049867"/>
          </a:xfrm>
          <a:prstGeom prst="round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4D811C-3AD1-CDF8-D0AE-C795321DC111}"/>
              </a:ext>
            </a:extLst>
          </p:cNvPr>
          <p:cNvSpPr/>
          <p:nvPr/>
        </p:nvSpPr>
        <p:spPr>
          <a:xfrm>
            <a:off x="838199" y="4268610"/>
            <a:ext cx="3973689" cy="1049867"/>
          </a:xfrm>
          <a:prstGeom prst="round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656AE8-6B34-9EA6-BB41-CE0D12465E36}"/>
              </a:ext>
            </a:extLst>
          </p:cNvPr>
          <p:cNvCxnSpPr>
            <a:cxnSpLocks/>
          </p:cNvCxnSpPr>
          <p:nvPr/>
        </p:nvCxnSpPr>
        <p:spPr>
          <a:xfrm flipV="1">
            <a:off x="2671099" y="4387145"/>
            <a:ext cx="307888" cy="790222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13E503D-90DA-0207-71E4-E491D9194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64" y="4385705"/>
            <a:ext cx="790222" cy="7902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D0E479-4BAF-56BC-3E32-654784B5E7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207" y="4385705"/>
            <a:ext cx="777170" cy="7771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0E2F90-5024-55D5-0FF4-0BC4795A1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562" y="4385705"/>
            <a:ext cx="777170" cy="7771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2F33D0-6B69-8FB8-0A92-8AC67AA548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493" y="4385706"/>
            <a:ext cx="777169" cy="777169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233440E-8EFA-843C-3283-ED8D67F2E387}"/>
              </a:ext>
            </a:extLst>
          </p:cNvPr>
          <p:cNvSpPr/>
          <p:nvPr/>
        </p:nvSpPr>
        <p:spPr>
          <a:xfrm>
            <a:off x="838199" y="5631038"/>
            <a:ext cx="3973689" cy="1049867"/>
          </a:xfrm>
          <a:prstGeom prst="roundRect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9CE3F2-152B-1B95-844F-31773C3A7598}"/>
              </a:ext>
            </a:extLst>
          </p:cNvPr>
          <p:cNvCxnSpPr>
            <a:cxnSpLocks/>
          </p:cNvCxnSpPr>
          <p:nvPr/>
        </p:nvCxnSpPr>
        <p:spPr>
          <a:xfrm flipV="1">
            <a:off x="2713072" y="5767387"/>
            <a:ext cx="307888" cy="790222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249D1E7-EFD6-B8F0-6402-5AA390979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14" y="5760860"/>
            <a:ext cx="790222" cy="79022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7A16777-2049-F7BD-637C-7FA5ADA50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769" y="5760860"/>
            <a:ext cx="777169" cy="7771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391B74-DA6F-4678-2A80-B39C78E75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782" y="5767386"/>
            <a:ext cx="777170" cy="77717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0CE3BFC-1726-1CF4-A098-477D3CE5F4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637" y="5760859"/>
            <a:ext cx="777170" cy="777170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32B0092-54EE-4C5B-244A-D1BC709CD32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811889" y="3429000"/>
            <a:ext cx="1058333" cy="0"/>
          </a:xfrm>
          <a:prstGeom prst="straightConnector1">
            <a:avLst/>
          </a:prstGeom>
          <a:ln w="5715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6BF1FB-6E88-B8FC-F05F-3E67F75D8283}"/>
              </a:ext>
            </a:extLst>
          </p:cNvPr>
          <p:cNvSpPr txBox="1"/>
          <p:nvPr/>
        </p:nvSpPr>
        <p:spPr>
          <a:xfrm>
            <a:off x="6088065" y="3198166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C00"/>
                </a:solidFill>
              </a:rPr>
              <a:t>Place a Runner on both columns 5 and 9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BEBB00-6591-E8E7-F600-AF1A2680A55B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811888" y="4791427"/>
            <a:ext cx="1058334" cy="2117"/>
          </a:xfrm>
          <a:prstGeom prst="straightConnector1">
            <a:avLst/>
          </a:prstGeom>
          <a:ln w="5715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969BACB-A15E-2D55-F622-1216476A250A}"/>
              </a:ext>
            </a:extLst>
          </p:cNvPr>
          <p:cNvSpPr txBox="1"/>
          <p:nvPr/>
        </p:nvSpPr>
        <p:spPr>
          <a:xfrm>
            <a:off x="6088065" y="4549983"/>
            <a:ext cx="600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C00"/>
                </a:solidFill>
              </a:rPr>
              <a:t>Place Runner on column 7, move one space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44F7B7-92D2-1860-716C-71EA04023B41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11888" y="6147327"/>
            <a:ext cx="1058334" cy="8645"/>
          </a:xfrm>
          <a:prstGeom prst="straightConnector1">
            <a:avLst/>
          </a:prstGeom>
          <a:ln w="5715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76CF274-F49C-85D4-8562-457B7F8AA6F8}"/>
              </a:ext>
            </a:extLst>
          </p:cNvPr>
          <p:cNvSpPr txBox="1"/>
          <p:nvPr/>
        </p:nvSpPr>
        <p:spPr>
          <a:xfrm>
            <a:off x="6088065" y="5931665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C00"/>
                </a:solidFill>
              </a:rPr>
              <a:t>Place a Runner on both columns 6 and 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21BEC9-A86C-59EB-A7BA-6627A310F6CB}"/>
              </a:ext>
            </a:extLst>
          </p:cNvPr>
          <p:cNvSpPr txBox="1"/>
          <p:nvPr/>
        </p:nvSpPr>
        <p:spPr>
          <a:xfrm>
            <a:off x="-463978" y="5947272"/>
            <a:ext cx="22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F5D6D5-E99E-DC2A-A534-81315BF34E70}"/>
              </a:ext>
            </a:extLst>
          </p:cNvPr>
          <p:cNvSpPr txBox="1"/>
          <p:nvPr/>
        </p:nvSpPr>
        <p:spPr>
          <a:xfrm>
            <a:off x="88727" y="4574235"/>
            <a:ext cx="1105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2: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31570C-818D-277C-670E-B17E450C2D82}"/>
              </a:ext>
            </a:extLst>
          </p:cNvPr>
          <p:cNvSpPr txBox="1"/>
          <p:nvPr/>
        </p:nvSpPr>
        <p:spPr>
          <a:xfrm>
            <a:off x="149147" y="3198166"/>
            <a:ext cx="984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1:</a:t>
            </a:r>
          </a:p>
        </p:txBody>
      </p:sp>
    </p:spTree>
    <p:extLst>
      <p:ext uri="{BB962C8B-B14F-4D97-AF65-F5344CB8AC3E}">
        <p14:creationId xmlns:p14="http://schemas.microsoft.com/office/powerpoint/2010/main" val="9505766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1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732DD-7C9E-557B-1C69-3F19F7ED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72DE-DA57-DD1B-76E9-6C5CEC5D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Can’t Stop: The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851A-CC84-F075-7E13-E19E09635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944"/>
            <a:ext cx="10515600" cy="4947931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To </a:t>
            </a:r>
            <a:r>
              <a:rPr lang="en-US" sz="3400" dirty="0">
                <a:solidFill>
                  <a:srgbClr val="FFCC00"/>
                </a:solidFill>
              </a:rPr>
              <a:t>keep all progress</a:t>
            </a:r>
            <a:r>
              <a:rPr lang="en-US" sz="3400" dirty="0">
                <a:solidFill>
                  <a:schemeClr val="bg1"/>
                </a:solidFill>
              </a:rPr>
              <a:t> achieved that turn, 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</a:rPr>
              <a:t>	a player </a:t>
            </a:r>
            <a:r>
              <a:rPr lang="en-US" sz="3400" b="1" dirty="0">
                <a:solidFill>
                  <a:srgbClr val="FFCC00"/>
                </a:solidFill>
              </a:rPr>
              <a:t>stops voluntarily</a:t>
            </a:r>
            <a:endParaRPr lang="en-US" sz="3400" dirty="0">
              <a:solidFill>
                <a:srgbClr val="FFCC00"/>
              </a:solidFill>
            </a:endParaRPr>
          </a:p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If a player is </a:t>
            </a:r>
            <a:r>
              <a:rPr lang="en-US" sz="3400" b="1" dirty="0">
                <a:solidFill>
                  <a:srgbClr val="FFCC00"/>
                </a:solidFill>
              </a:rPr>
              <a:t>forced to stop</a:t>
            </a:r>
            <a:r>
              <a:rPr lang="en-US" sz="3400" dirty="0">
                <a:solidFill>
                  <a:schemeClr val="bg1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bg1"/>
                </a:solidFill>
              </a:rPr>
              <a:t>	they </a:t>
            </a:r>
            <a:r>
              <a:rPr lang="en-US" sz="3400" dirty="0">
                <a:solidFill>
                  <a:srgbClr val="FFCC00"/>
                </a:solidFill>
              </a:rPr>
              <a:t>lose all progress</a:t>
            </a:r>
            <a:r>
              <a:rPr lang="en-US" sz="3400" dirty="0">
                <a:solidFill>
                  <a:schemeClr val="bg1"/>
                </a:solidFill>
              </a:rPr>
              <a:t> achieved that turn</a:t>
            </a:r>
          </a:p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r>
              <a:rPr lang="en-US" sz="3400" dirty="0">
                <a:solidFill>
                  <a:schemeClr val="bg1"/>
                </a:solidFill>
              </a:rPr>
              <a:t>Win Condition: Get </a:t>
            </a:r>
            <a:r>
              <a:rPr lang="en-US" sz="3400" dirty="0">
                <a:solidFill>
                  <a:srgbClr val="FFCC00"/>
                </a:solidFill>
              </a:rPr>
              <a:t>3 markers</a:t>
            </a:r>
            <a:r>
              <a:rPr lang="en-US" sz="3400" dirty="0">
                <a:solidFill>
                  <a:schemeClr val="bg1"/>
                </a:solidFill>
              </a:rPr>
              <a:t> to the </a:t>
            </a:r>
            <a:r>
              <a:rPr lang="en-US" sz="3400" dirty="0">
                <a:solidFill>
                  <a:srgbClr val="FFCC00"/>
                </a:solidFill>
              </a:rPr>
              <a:t>top of 3 columns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1EBF68-3796-560E-3BA2-CABAF53D904B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4644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8EBE-B0A8-A9C5-F40B-BE3E9EFF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Existing Strategies and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C6A6-BEA3-B625-5F61-DDE61BA79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8" y="1825625"/>
            <a:ext cx="116315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CC00"/>
                </a:solidFill>
              </a:rPr>
              <a:t>Rule of 28 </a:t>
            </a:r>
            <a:r>
              <a:rPr lang="en-US" dirty="0">
                <a:solidFill>
                  <a:schemeClr val="bg1"/>
                </a:solidFill>
              </a:rPr>
              <a:t>(Keller 1986)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Uses a point scoring system based on the probabilities of hitting each column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CC00"/>
                </a:solidFill>
              </a:rPr>
              <a:t>Retrograde Approximation Algorithms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(Fang, Glenn, &amp; Kruskal 2008)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Solved toy versions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CC00"/>
                </a:solidFill>
              </a:rPr>
              <a:t>Generalized Heuristic </a:t>
            </a:r>
            <a:r>
              <a:rPr lang="en-US" dirty="0">
                <a:solidFill>
                  <a:schemeClr val="bg1"/>
                </a:solidFill>
              </a:rPr>
              <a:t>(Glenn &amp; Aloi 2009)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Computer Algorithm; difficult to implement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AD1273-F50A-4885-CA25-263F51CEB866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75797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EC8F5-0D54-97B1-4DF0-3420BE30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1558-74FB-CCAC-25AF-13EE528C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180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Existing Strategies: Rule of 28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3C8F5F-C66A-B896-3EB2-5F6409503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259" y="2546555"/>
            <a:ext cx="9881481" cy="2320412"/>
          </a:xfrm>
          <a:prstGeom prst="rect">
            <a:avLst/>
          </a:prstGeom>
          <a:ln w="76200">
            <a:solidFill>
              <a:srgbClr val="FFCC00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978F2A-76D2-8A9B-1D59-933D39CE88B7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66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90F5D-3FF0-F25F-110E-7470894F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4ACE-EC15-1192-F5E0-FC7332FB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Deep Q-Network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D3187-7865-CE60-57ED-9B4CA9D17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019" y="1767513"/>
            <a:ext cx="8735961" cy="4725361"/>
          </a:xfrm>
          <a:prstGeom prst="rect">
            <a:avLst/>
          </a:prstGeom>
          <a:ln w="76200">
            <a:solidFill>
              <a:srgbClr val="FFCC00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D0631F-34A6-7297-E3CA-1E5E1170EF56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16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D6A79-3882-6B54-2F8B-E5472648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3EF-D450-7496-1B3A-19D87F6B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794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Q-learning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CEA9A3-49BE-FA43-7E7C-7723FC9A7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73" y="2187399"/>
            <a:ext cx="7363853" cy="3610479"/>
          </a:xfrm>
          <a:prstGeom prst="rect">
            <a:avLst/>
          </a:prstGeom>
          <a:ln w="76200">
            <a:solidFill>
              <a:srgbClr val="FFCC00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96C81C-3069-5BE6-B3AF-DC6A93D66E6F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22794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FCFFF-32E4-106B-487B-B65490AB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01D8-C292-B55A-D89E-9091309A7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3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Neural Network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CC925E-3E45-C844-63E4-369861565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4" y="1825625"/>
            <a:ext cx="9289026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C00"/>
                </a:solidFill>
              </a:rPr>
              <a:t>51 Features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rgbClr val="FFCC00"/>
                </a:solidFill>
              </a:rPr>
              <a:t>2 Hidden Layers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64 Neurons Each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20% Dropout</a:t>
            </a:r>
          </a:p>
          <a:p>
            <a:pPr lvl="1"/>
            <a:r>
              <a:rPr lang="en-US" sz="2800" dirty="0" err="1">
                <a:solidFill>
                  <a:schemeClr val="bg1"/>
                </a:solidFill>
              </a:rPr>
              <a:t>ReLU</a:t>
            </a:r>
            <a:r>
              <a:rPr lang="en-US" sz="2800" dirty="0">
                <a:solidFill>
                  <a:schemeClr val="bg1"/>
                </a:solidFill>
              </a:rPr>
              <a:t> Activation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rgbClr val="FFCC00"/>
                </a:solidFill>
              </a:rPr>
              <a:t>Q-Value output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BFD86F-E6F0-B45B-F19E-704428C1271F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8764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3F903-38F6-BAFD-EF6D-D20F93CE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2941-8B81-D115-F0EB-A6855C2B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Training Time!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851087-36FB-E037-472D-E38E05B1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568" y="2503180"/>
            <a:ext cx="5810864" cy="185164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C00"/>
                </a:solidFill>
              </a:rPr>
              <a:t>18 Segmented Sessions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7 Possible Opponents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3F66EB-4C8A-AD68-689C-DC5904B3966B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1683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198FE-1C94-DC80-C147-A0E15B24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C38B5-5619-2655-DCA4-C4D07154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9D077-30F6-9ACC-0E1B-B4187132E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1609341"/>
            <a:ext cx="11867535" cy="5052014"/>
          </a:xfrm>
          <a:prstGeom prst="rect">
            <a:avLst/>
          </a:prstGeom>
          <a:ln w="38100">
            <a:solidFill>
              <a:srgbClr val="FFCC00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BBC17F-987B-B8A3-1D8D-5D4F527E5A4A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46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A50AA-DE0B-4A66-CF27-FDB353FE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F24C-A69A-ED46-5739-98645301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794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786AA-A5EF-DF5D-8CE2-29A73DAD7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94911"/>
            <a:ext cx="8870210" cy="3681774"/>
          </a:xfrm>
          <a:prstGeom prst="rect">
            <a:avLst/>
          </a:prstGeom>
          <a:ln w="38100">
            <a:solidFill>
              <a:srgbClr val="FFCC00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24856D-30B2-3BFF-3E28-8705C2F9976A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3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D2EAD-7BC9-C16F-6142-DF3F1521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9F3F-9184-CFA9-3DBC-082FE4B3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77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794AB-CA34-4110-C559-ACA95921E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94911"/>
            <a:ext cx="8870210" cy="3681774"/>
          </a:xfrm>
          <a:prstGeom prst="rect">
            <a:avLst/>
          </a:prstGeom>
          <a:ln w="38100">
            <a:solidFill>
              <a:srgbClr val="FFCC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ACF140-8B97-D954-2F8A-B0695C39B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309" y="1499014"/>
            <a:ext cx="9806309" cy="3382296"/>
          </a:xfrm>
          <a:prstGeom prst="rect">
            <a:avLst/>
          </a:prstGeom>
          <a:ln w="38100">
            <a:solidFill>
              <a:srgbClr val="FFCC00"/>
            </a:solidFill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EB5977-F705-67F1-6B92-DF09F77CA9DC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1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8E525-344E-16A2-6781-DF3B9021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657E4-793E-CF4B-6B66-C0755923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012530"/>
            <a:ext cx="2958229" cy="16103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AC0EC-F227-5D58-113B-B89A09E6E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213" y="457199"/>
            <a:ext cx="4217894" cy="5899152"/>
          </a:xfrm>
          <a:prstGeom prst="rect">
            <a:avLst/>
          </a:prstGeom>
          <a:ln w="28575">
            <a:solidFill>
              <a:srgbClr val="FFCC00"/>
            </a:solidFill>
          </a:ln>
        </p:spPr>
      </p:pic>
    </p:spTree>
    <p:extLst>
      <p:ext uri="{BB962C8B-B14F-4D97-AF65-F5344CB8AC3E}">
        <p14:creationId xmlns:p14="http://schemas.microsoft.com/office/powerpoint/2010/main" val="33286851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696D5-9A0D-1790-1071-037629DA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8165-4141-D213-706A-5972EBA7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891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Error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1D4EFF-7818-556E-75CE-187409EB05D1}"/>
                  </a:ext>
                </a:extLst>
              </p:cNvPr>
              <p:cNvSpPr txBox="1"/>
              <p:nvPr/>
            </p:nvSpPr>
            <p:spPr>
              <a:xfrm>
                <a:off x="2910348" y="2151727"/>
                <a:ext cx="6371303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rgbClr val="FFCC00"/>
                    </a:solidFill>
                  </a:rPr>
                  <a:t>Messy Discount Factor (</a:t>
                </a:r>
                <a14:m>
                  <m:oMath xmlns:m="http://schemas.openxmlformats.org/officeDocument/2006/math">
                    <m:r>
                      <a:rPr lang="el-GR" sz="3200" i="1" dirty="0" smtClean="0">
                        <a:solidFill>
                          <a:srgbClr val="FFCC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3200" dirty="0">
                    <a:solidFill>
                      <a:srgbClr val="FFCC00"/>
                    </a:solidFill>
                  </a:rPr>
                  <a:t>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Too Many Opponents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rgbClr val="FFCC00"/>
                    </a:solidFill>
                  </a:rPr>
                  <a:t>Feature Overload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1D4EFF-7818-556E-75CE-187409EB0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348" y="2151727"/>
                <a:ext cx="6371303" cy="2554545"/>
              </a:xfrm>
              <a:prstGeom prst="rect">
                <a:avLst/>
              </a:prstGeom>
              <a:blipFill>
                <a:blip r:embed="rId2"/>
                <a:stretch>
                  <a:fillRect l="-2199" t="-2864" b="-7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DED845-B8E3-3975-6732-3C68C92212B0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862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BBEB0-67AA-0157-8C44-3842F7E8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F934-8365-8F9E-B0F3-3D295CACD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180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BF882-C07D-CFDF-B790-0C6F99643F50}"/>
              </a:ext>
            </a:extLst>
          </p:cNvPr>
          <p:cNvSpPr txBox="1"/>
          <p:nvPr/>
        </p:nvSpPr>
        <p:spPr>
          <a:xfrm>
            <a:off x="2600996" y="2151727"/>
            <a:ext cx="69900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CC00"/>
                </a:solidFill>
              </a:rPr>
              <a:t>Double DQN </a:t>
            </a:r>
            <a:r>
              <a:rPr lang="en-US" sz="3200" dirty="0">
                <a:solidFill>
                  <a:schemeClr val="bg1"/>
                </a:solidFill>
              </a:rPr>
              <a:t>+ </a:t>
            </a:r>
            <a:r>
              <a:rPr lang="en-US" sz="3200" dirty="0">
                <a:solidFill>
                  <a:srgbClr val="FFCC00"/>
                </a:solidFill>
              </a:rPr>
              <a:t>Bagging or Boosting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Simple Training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CC00"/>
                </a:solidFill>
              </a:rPr>
              <a:t>Better Parameterization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CD0D00-27C7-D891-4E62-CA122F8811EE}"/>
              </a:ext>
            </a:extLst>
          </p:cNvPr>
          <p:cNvCxnSpPr>
            <a:cxnSpLocks/>
          </p:cNvCxnSpPr>
          <p:nvPr/>
        </p:nvCxnSpPr>
        <p:spPr>
          <a:xfrm>
            <a:off x="0" y="1365956"/>
            <a:ext cx="12192000" cy="0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565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3E499-E97F-1071-1D0C-0348743D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440BB3-61CF-CDCF-C3F1-4BE203878775}"/>
              </a:ext>
            </a:extLst>
          </p:cNvPr>
          <p:cNvSpPr txBox="1"/>
          <p:nvPr/>
        </p:nvSpPr>
        <p:spPr>
          <a:xfrm>
            <a:off x="3955025" y="2828835"/>
            <a:ext cx="4281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The End! </a:t>
            </a:r>
          </a:p>
          <a:p>
            <a:pPr algn="ctr"/>
            <a:r>
              <a:rPr lang="en-US" sz="3600" dirty="0">
                <a:solidFill>
                  <a:srgbClr val="FFCC00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732400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6996</TotalTime>
  <Words>416</Words>
  <Application>Microsoft Office PowerPoint</Application>
  <PresentationFormat>Widescreen</PresentationFormat>
  <Paragraphs>97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Wingdings</vt:lpstr>
      <vt:lpstr>Office Theme</vt:lpstr>
      <vt:lpstr>Trying to Ruin Family Board Game Night: Using Machine Learning to Optimize Can’t Stop</vt:lpstr>
      <vt:lpstr>Family Board Game Night</vt:lpstr>
      <vt:lpstr>Can’t Stop: The Board Game</vt:lpstr>
      <vt:lpstr>Can’t Stop: The Rules</vt:lpstr>
      <vt:lpstr>Can’t Stop: The Rules</vt:lpstr>
      <vt:lpstr>Can’t Stop: The Rules</vt:lpstr>
      <vt:lpstr>Existing Strategies and Research</vt:lpstr>
      <vt:lpstr>Existing Strategies: Rule of 28</vt:lpstr>
      <vt:lpstr>Deep Q-Network</vt:lpstr>
      <vt:lpstr>Q-learning</vt:lpstr>
      <vt:lpstr>Neural Network</vt:lpstr>
      <vt:lpstr>Training Time!</vt:lpstr>
      <vt:lpstr>Results</vt:lpstr>
      <vt:lpstr>Results</vt:lpstr>
      <vt:lpstr>Results</vt:lpstr>
      <vt:lpstr>Results</vt:lpstr>
      <vt:lpstr>Error Analysis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Carter</dc:creator>
  <cp:lastModifiedBy>Cameron Carter</cp:lastModifiedBy>
  <cp:revision>44</cp:revision>
  <dcterms:created xsi:type="dcterms:W3CDTF">2026-03-30T02:35:43Z</dcterms:created>
  <dcterms:modified xsi:type="dcterms:W3CDTF">2026-04-09T02:43:10Z</dcterms:modified>
</cp:coreProperties>
</file>